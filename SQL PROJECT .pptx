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4" r:id="rId9"/>
    <p:sldId id="265" r:id="rId10"/>
    <p:sldId id="266" r:id="rId11"/>
    <p:sldId id="275" r:id="rId12"/>
    <p:sldId id="273" r:id="rId13"/>
    <p:sldId id="276" r:id="rId14"/>
    <p:sldId id="268" r:id="rId15"/>
    <p:sldId id="271" r:id="rId16"/>
    <p:sldId id="270" r:id="rId17"/>
    <p:sldId id="272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528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5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44905" y="3727757"/>
            <a:ext cx="9494520" cy="70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1800"/>
            </a:pPr>
            <a:r>
              <a:rPr lang="en-IN" sz="3600" u="sng" dirty="0"/>
              <a:t>Grocery Store Management </a:t>
            </a:r>
            <a:endParaRPr lang="en-US" altLang="en-US" sz="4800" b="1" i="0" u="sng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20505" y="5445760"/>
            <a:ext cx="25838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Presented by </a:t>
            </a:r>
            <a:r>
              <a:rPr lang="en-US" sz="2000" b="1" dirty="0">
                <a:latin typeface="Calibri" panose="020F0502020204030204" charset="0"/>
                <a:cs typeface="Calibri" panose="020F0502020204030204" charset="0"/>
                <a:sym typeface="+mn-ea"/>
              </a:rPr>
              <a:t>:</a:t>
            </a:r>
            <a:endParaRPr 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IN" sz="2000" b="1" dirty="0" err="1">
                <a:latin typeface="Calibri" panose="020F0502020204030204" charset="0"/>
                <a:cs typeface="Calibri" panose="020F0502020204030204" charset="0"/>
                <a:sym typeface="+mn-ea"/>
              </a:rPr>
              <a:t>P.Santhosh</a:t>
            </a:r>
            <a:r>
              <a:rPr lang="en-IN" sz="2000" b="1" dirty="0">
                <a:latin typeface="Calibri" panose="020F0502020204030204" charset="0"/>
                <a:cs typeface="Calibri" panose="020F0502020204030204" charset="0"/>
                <a:sym typeface="+mn-ea"/>
              </a:rPr>
              <a:t> Kumar</a:t>
            </a:r>
            <a:endParaRPr 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Batch No </a:t>
            </a:r>
            <a:r>
              <a:rPr lang="en-US" sz="2000" b="1" dirty="0">
                <a:latin typeface="Calibri" panose="020F0502020204030204" charset="0"/>
                <a:cs typeface="Calibri" panose="020F0502020204030204" charset="0"/>
                <a:sym typeface="+mn-ea"/>
              </a:rPr>
              <a:t>: 504</a:t>
            </a:r>
            <a:endParaRPr lang="en-I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15265" y="1299210"/>
            <a:ext cx="10704830" cy="415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Background: </a:t>
            </a:r>
            <a:endParaRPr lang="en-IN" sz="2400" b="1" i="0" u="none" strike="noStrike" cap="none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2" algn="just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completed my </a:t>
            </a:r>
            <a:r>
              <a:rPr 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Bachelor of Technology in CSE</a:t>
            </a:r>
            <a:r>
              <a:rPr lang="en-IN" alt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from Sandip university.</a:t>
            </a:r>
          </a:p>
          <a:p>
            <a:pPr lvl="2" algn="just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you want to learn Data Science:</a:t>
            </a:r>
            <a:endParaRPr lang="en-IN" sz="2400" b="1" i="0" u="none" strike="noStrike" cap="none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3" indent="457200" algn="just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want to learn data science to improve my skills and get high payeable job.</a:t>
            </a:r>
            <a:endParaRPr sz="2400" b="1" i="0" u="none" strike="noStrike" cap="none" dirty="0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Any work experience:</a:t>
            </a:r>
            <a:endParaRPr lang="en-IN" sz="2400" b="1" i="0" u="none" strike="noStrike" cap="none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1" algn="just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r>
              <a:rPr lang="en-IN" sz="24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So, far I have no 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experience </a:t>
            </a:r>
            <a:endParaRPr sz="2400" b="1" i="0" u="none" strike="noStrike" cap="none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LinkedIn : </a:t>
            </a:r>
            <a:r>
              <a:rPr lang="en-IN" sz="2400" b="1" dirty="0"/>
              <a:t>www.linkedin.com/in/puppala-santhosh-kumar</a:t>
            </a:r>
          </a:p>
          <a:p>
            <a:br>
              <a:rPr lang="en-IN" sz="2400" dirty="0"/>
            </a:br>
            <a:endParaRPr lang="en-IN" sz="2400" b="1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323850" algn="just">
              <a:lnSpc>
                <a:spcPct val="150000"/>
              </a:lnSpc>
              <a:buClr>
                <a:schemeClr val="dk1"/>
              </a:buClr>
              <a:buSzPts val="2400"/>
              <a:buFont typeface="Calibri" panose="020F0502020204030204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GitHub :   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https://github.com/santhoshkumarpuppala77-bot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355" y="416560"/>
            <a:ext cx="6099810" cy="66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Arial" panose="020B0604020202020204" pitchFamily="34" charset="0"/>
                <a:ea typeface="Lato Black" panose="020F0802020204030203"/>
                <a:cs typeface="Arial" panose="020B0604020202020204" pitchFamily="34" charset="0"/>
                <a:sym typeface="Lato Black" panose="020F0802020204030203"/>
              </a:rPr>
              <a:t>About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90525" y="180340"/>
            <a:ext cx="10333355" cy="9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Business 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Problem Statement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Introduction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ER Diagram and Schema Explaination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SQL Queries Results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Business Key Insights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Conclusion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Recommendations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/>
              <a:t>Q &amp;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195" y="577215"/>
            <a:ext cx="10301605" cy="746125"/>
          </a:xfrm>
        </p:spPr>
        <p:txBody>
          <a:bodyPr>
            <a:normAutofit/>
          </a:bodyPr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78305"/>
            <a:ext cx="10515600" cy="31100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400" dirty="0"/>
              <a:t>The grocery store generates large amounts of data related to customers, products, suppliers, employees, and sales. However, without a centralized database and analytical system, it becomes difficult to track performance, identify sales trends, monitor inventory, and make informed business decisions that improve profitability and operational efficiency.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415" y="365125"/>
            <a:ext cx="10319385" cy="965200"/>
          </a:xfrm>
        </p:spPr>
        <p:txBody>
          <a:bodyPr/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32915"/>
            <a:ext cx="10515600" cy="444436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400" dirty="0"/>
              <a:t>Develop a SQL-based Grocery Store Management System that integrates customer, product, supplier, employee, and order data into a relational database. The system should enable efficient data management and analysis, helping stakeholders identify top-performing products, valuable customers, sales trends, supplier contributions, and employee performance for better decision-making.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475" y="365125"/>
            <a:ext cx="10347325" cy="587375"/>
          </a:xfrm>
        </p:spPr>
        <p:txBody>
          <a:bodyPr>
            <a:normAutofit fontScale="90000"/>
          </a:bodyPr>
          <a:lstStyle/>
          <a:p>
            <a:r>
              <a:rPr lang="en-IN" altLang="en-US" sz="4445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729" y="952500"/>
            <a:ext cx="10515600" cy="5598795"/>
          </a:xfrm>
        </p:spPr>
        <p:txBody>
          <a:bodyPr>
            <a:noAutofit/>
          </a:bodyPr>
          <a:lstStyle/>
          <a:p>
            <a:r>
              <a:rPr lang="en-IN" sz="2400" dirty="0"/>
              <a:t>The </a:t>
            </a:r>
            <a:r>
              <a:rPr lang="en-IN" sz="2400" b="1" dirty="0"/>
              <a:t>Retail and Grocery</a:t>
            </a:r>
            <a:r>
              <a:rPr lang="en-IN" sz="2400" dirty="0"/>
              <a:t> domain involves the management of inventory, suppliers, customer orders, employees, and product categories. Effective data management in this domain allows businesses to:</a:t>
            </a:r>
          </a:p>
          <a:p>
            <a:pPr fontAlgn="base"/>
            <a:r>
              <a:rPr lang="en-IN" sz="2400" dirty="0"/>
              <a:t>Track sales and revenue</a:t>
            </a:r>
          </a:p>
          <a:p>
            <a:pPr fontAlgn="base"/>
            <a:r>
              <a:rPr lang="en-IN" sz="2400" dirty="0"/>
              <a:t>Monitor product availability</a:t>
            </a:r>
          </a:p>
          <a:p>
            <a:pPr fontAlgn="base"/>
            <a:r>
              <a:rPr lang="en-IN" sz="2400" dirty="0" err="1"/>
              <a:t>Analyze</a:t>
            </a:r>
            <a:r>
              <a:rPr lang="en-IN" sz="2400" dirty="0"/>
              <a:t> customer and employee activity</a:t>
            </a:r>
          </a:p>
          <a:p>
            <a:pPr fontAlgn="base"/>
            <a:r>
              <a:rPr lang="en-IN" sz="2400" dirty="0"/>
              <a:t>Improve operational efficiency</a:t>
            </a:r>
          </a:p>
          <a:p>
            <a:r>
              <a:rPr lang="en-IN" sz="2400" dirty="0"/>
              <a:t>This project simulates a mini grocery store database where various entities such as products, suppliers, customers, and orders interact. Students will use SQL to perform data extraction, transformations, and derive business insights.</a:t>
            </a:r>
            <a:br>
              <a:rPr lang="en-IN" sz="2400" dirty="0"/>
            </a:b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140" y="365125"/>
            <a:ext cx="9725660" cy="67818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ER Diagram and Schema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Explaination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FF01D-5462-4E85-7240-19D79C3B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9" y="1407099"/>
            <a:ext cx="5763675" cy="445496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05B602-78BF-52E9-625D-9AF171D5A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17302"/>
              </p:ext>
            </p:extLst>
          </p:nvPr>
        </p:nvGraphicFramePr>
        <p:xfrm>
          <a:off x="6253318" y="1407099"/>
          <a:ext cx="5763675" cy="4125065"/>
        </p:xfrm>
        <a:graphic>
          <a:graphicData uri="http://schemas.openxmlformats.org/drawingml/2006/table">
            <a:tbl>
              <a:tblPr/>
              <a:tblGrid>
                <a:gridCol w="1921225">
                  <a:extLst>
                    <a:ext uri="{9D8B030D-6E8A-4147-A177-3AD203B41FA5}">
                      <a16:colId xmlns:a16="http://schemas.microsoft.com/office/drawing/2014/main" val="2438390896"/>
                    </a:ext>
                  </a:extLst>
                </a:gridCol>
                <a:gridCol w="1921225">
                  <a:extLst>
                    <a:ext uri="{9D8B030D-6E8A-4147-A177-3AD203B41FA5}">
                      <a16:colId xmlns:a16="http://schemas.microsoft.com/office/drawing/2014/main" val="352709927"/>
                    </a:ext>
                  </a:extLst>
                </a:gridCol>
                <a:gridCol w="1921225">
                  <a:extLst>
                    <a:ext uri="{9D8B030D-6E8A-4147-A177-3AD203B41FA5}">
                      <a16:colId xmlns:a16="http://schemas.microsoft.com/office/drawing/2014/main" val="2977378948"/>
                    </a:ext>
                  </a:extLst>
                </a:gridCol>
              </a:tblGrid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Child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94737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Many (1:N)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284857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Many (1:N)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217253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Many (1:N)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55478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 : Many (1:N)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997338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Many (1:N)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146762"/>
                  </a:ext>
                </a:extLst>
              </a:tr>
              <a:tr h="589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Order_Details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 : Many (1:N)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606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SQL Queries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6FDC3-E3F0-59E2-3FF9-10D2FE31BBEB}"/>
              </a:ext>
            </a:extLst>
          </p:cNvPr>
          <p:cNvSpPr txBox="1"/>
          <p:nvPr/>
        </p:nvSpPr>
        <p:spPr>
          <a:xfrm>
            <a:off x="838200" y="1258528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01.  </a:t>
            </a:r>
            <a:r>
              <a:rPr lang="en-IN" sz="2000" b="1" u="sng" dirty="0"/>
              <a:t>Top 5 Customers by Total Purchase Amount :</a:t>
            </a:r>
            <a:endParaRPr lang="en-IN" sz="20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C5FE46-410B-FE21-0287-23B4F03C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3479"/>
            <a:ext cx="5114957" cy="2396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AAF72D-9DF3-66A4-D081-3DA9104B9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952" y="1943711"/>
            <a:ext cx="4885751" cy="2775773"/>
          </a:xfrm>
          <a:prstGeom prst="rect">
            <a:avLst/>
          </a:prstGeom>
          <a:ln w="28575">
            <a:solidFill>
              <a:schemeClr val="tx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249660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8B6655-ED38-034B-065F-9523B691FA07}"/>
              </a:ext>
            </a:extLst>
          </p:cNvPr>
          <p:cNvSpPr txBox="1"/>
          <p:nvPr/>
        </p:nvSpPr>
        <p:spPr>
          <a:xfrm>
            <a:off x="857865" y="393290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02. </a:t>
            </a:r>
            <a:r>
              <a:rPr lang="en-IN" sz="2000" b="1" u="sng" dirty="0"/>
              <a:t>Best-Selling Products by Quantity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1268B1-68DD-E56C-9A5F-70BF950B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662" y="315590"/>
            <a:ext cx="2661337" cy="5451769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30EDC9-0370-C232-20C7-1CCEBA5B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65" y="2054666"/>
            <a:ext cx="5650487" cy="1973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E5D4D-8289-856B-0109-63B6DC462AB9}"/>
              </a:ext>
            </a:extLst>
          </p:cNvPr>
          <p:cNvSpPr txBox="1"/>
          <p:nvPr/>
        </p:nvSpPr>
        <p:spPr>
          <a:xfrm>
            <a:off x="510048" y="1007252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03. </a:t>
            </a:r>
            <a:r>
              <a:rPr lang="en-IN" sz="2000" b="1" u="sng" dirty="0"/>
              <a:t>Category-wise Sales Analysis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275DC6-333B-EE09-930A-A4B431BBA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74" y="2103248"/>
            <a:ext cx="5377697" cy="2651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DE2C9-3B73-AC98-3A92-45730ED96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2305110"/>
            <a:ext cx="5535561" cy="1806826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7A6F5-9982-0198-5675-F6409F4046F4}"/>
              </a:ext>
            </a:extLst>
          </p:cNvPr>
          <p:cNvSpPr txBox="1"/>
          <p:nvPr/>
        </p:nvSpPr>
        <p:spPr>
          <a:xfrm>
            <a:off x="1011493" y="1071878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04. </a:t>
            </a:r>
            <a:r>
              <a:rPr lang="en-IN" sz="2000" b="1" u="sng" dirty="0"/>
              <a:t>Supplier Contribution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59614-71C4-A854-96AF-8DFE302C6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93" y="2221480"/>
            <a:ext cx="5204192" cy="2022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A6982-385E-32E5-CF92-1496A3DB9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024" y="2221480"/>
            <a:ext cx="3472483" cy="2158571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1879510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256AE5-5455-7FDB-FBB1-37E2D26408CD}"/>
              </a:ext>
            </a:extLst>
          </p:cNvPr>
          <p:cNvSpPr txBox="1"/>
          <p:nvPr/>
        </p:nvSpPr>
        <p:spPr>
          <a:xfrm>
            <a:off x="500216" y="1101211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05. Employee Performance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D447A-BEDD-5FB7-C4C4-89E3EAF5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70" y="2303757"/>
            <a:ext cx="5153455" cy="1988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5BAFED-B75A-C277-91BA-7E64766E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737" y="2333252"/>
            <a:ext cx="3491889" cy="3111363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78C6D-16A0-B101-8E52-3933A0D61A81}"/>
              </a:ext>
            </a:extLst>
          </p:cNvPr>
          <p:cNvSpPr txBox="1"/>
          <p:nvPr/>
        </p:nvSpPr>
        <p:spPr>
          <a:xfrm>
            <a:off x="814849" y="816076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06. </a:t>
            </a:r>
            <a:r>
              <a:rPr lang="en-IN" sz="2000" b="1" u="sng" dirty="0"/>
              <a:t>Monthly Revenue Trend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9B198-AB9A-653D-3D5A-07C9B3758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48" y="2157234"/>
            <a:ext cx="4963218" cy="2848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3707E-B04D-95D3-191C-A5E68563B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931" y="1852392"/>
            <a:ext cx="4086795" cy="3153215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81648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815"/>
          </a:xfrm>
        </p:spPr>
        <p:txBody>
          <a:bodyPr>
            <a:normAutofit fontScale="90000"/>
          </a:bodyPr>
          <a:lstStyle/>
          <a:p>
            <a:r>
              <a:rPr lang="en-IN" altLang="en-US" sz="4445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Key Insights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72729" y="1263015"/>
            <a:ext cx="10515600" cy="522986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b="1" dirty="0"/>
              <a:t>Top customers contribute a major share of revenue</a:t>
            </a:r>
            <a:r>
              <a:rPr lang="en-IN" sz="2000" dirty="0"/>
              <a:t>, highlighting the importance of customer retention programs and personalized marketing strategies to maximize profitability.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A small number of products generate the highest sales and revenue</a:t>
            </a:r>
            <a:r>
              <a:rPr lang="en-IN" sz="2000" dirty="0"/>
              <a:t>, indicating that maintaining sufficient stock of these products is critical for business growth. 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b="1" dirty="0"/>
              <a:t>Product category performance varies significantly</a:t>
            </a:r>
            <a:r>
              <a:rPr lang="en-IN" sz="2000" dirty="0"/>
              <a:t>, enabling management to focus inventory and promotional efforts on high-performing categories. 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b="1" dirty="0"/>
              <a:t>Revenue contribution differs across suppliers</a:t>
            </a:r>
            <a:r>
              <a:rPr lang="en-IN" sz="2000" dirty="0"/>
              <a:t>, helping the business identify strategic supplier partnerships that support sales and profitability. 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b="1" dirty="0"/>
              <a:t>Employee sales performance is not uniform</a:t>
            </a:r>
            <a:r>
              <a:rPr lang="en-IN" sz="2000" dirty="0"/>
              <a:t>, suggesting opportunities to recognize top performers and improve overall productivity through training and incentives. 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IN" sz="2000" b="1" dirty="0"/>
              <a:t>Sales and revenue trends reveal peak demand periods</a:t>
            </a:r>
            <a:r>
              <a:rPr lang="en-IN" sz="2000" dirty="0"/>
              <a:t>, allowing better inventory planning, staffing decisions, and marketing campaign scheduling to optimize operations and increase revenue.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250"/>
          </a:xfrm>
        </p:spPr>
        <p:txBody>
          <a:bodyPr/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03903" y="1222375"/>
            <a:ext cx="10580370" cy="517602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Enhance Customer Retention:</a:t>
            </a:r>
            <a:r>
              <a:rPr lang="en-IN" sz="1600" dirty="0"/>
              <a:t> Introduce loyalty programs and personalized offers for high-value customers to increase repeat purchases and customer lifetime value.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Optimize Inventory Management:</a:t>
            </a:r>
            <a:r>
              <a:rPr lang="en-IN" sz="1600" dirty="0"/>
              <a:t> Maintain adequate stock levels for best-selling products and categories to avoid stockouts and maximize sales opportunities.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Focus on High-Performing Categories:</a:t>
            </a:r>
            <a:r>
              <a:rPr lang="en-IN" sz="1600" dirty="0"/>
              <a:t> Invest more in marketing and promotions for categories that generate the highest revenue and customer demand.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Strengthen Supplier Partnerships:</a:t>
            </a:r>
            <a:r>
              <a:rPr lang="en-IN" sz="1600" dirty="0"/>
              <a:t> Build stronger relationships with top-contributing suppliers to ensure product availability, better pricing, and reliable supply chains.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Improve Employee Performance:</a:t>
            </a:r>
            <a:r>
              <a:rPr lang="en-IN" sz="1600" dirty="0"/>
              <a:t> Recognize top-performing employees and provide training programs to improve sales effectiveness and customer service quality.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1600" b="1" dirty="0"/>
              <a:t>Leverage Sales Trends for Planning:</a:t>
            </a:r>
            <a:r>
              <a:rPr lang="en-IN" sz="1600" dirty="0"/>
              <a:t> Use sales and revenue trend analysis to forecast demand, optimize staffing, and schedule promotional campaigns during peak periods.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3140" y="287655"/>
            <a:ext cx="10361930" cy="838835"/>
          </a:xfrm>
        </p:spPr>
        <p:txBody>
          <a:bodyPr>
            <a:normAutofit/>
          </a:bodyPr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23568" y="1126490"/>
            <a:ext cx="10515600" cy="470471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Successfully designed and implemented a relational database for managing grocery store operations. 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Integrated customer, product, supplier, employee, and order data into a centralized system. Utilized SQL queries, joins, aggregations, and filtering techniques to extract meaningful business insights. Identified top customers, best-selling products, high-performing categories, and key supplier contributions. </a:t>
            </a:r>
          </a:p>
          <a:p>
            <a:pPr algn="just">
              <a:lnSpc>
                <a:spcPct val="150000"/>
              </a:lnSpc>
            </a:pPr>
            <a:r>
              <a:rPr lang="en-IN" sz="2400" dirty="0" err="1"/>
              <a:t>Analyzed</a:t>
            </a:r>
            <a:r>
              <a:rPr lang="en-IN" sz="2400" dirty="0"/>
              <a:t> employee performance and sales trends to support operational and strategic decision-making. Demonstrated how data-driven analysis can improve business efficiency, inventory management, and overall profitability.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6945B-0BE0-2F0C-14FE-99C4EDB4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06" y="650896"/>
            <a:ext cx="10176387" cy="51136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804</Words>
  <Application>Microsoft Office PowerPoint</Application>
  <PresentationFormat>Widescreen</PresentationFormat>
  <Paragraphs>84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Lato Black</vt:lpstr>
      <vt:lpstr>Libre Baskerville</vt:lpstr>
      <vt:lpstr>Wingdings</vt:lpstr>
      <vt:lpstr>Office Theme</vt:lpstr>
      <vt:lpstr>PowerPoint Presentation</vt:lpstr>
      <vt:lpstr>PowerPoint Presentation</vt:lpstr>
      <vt:lpstr>Agenda </vt:lpstr>
      <vt:lpstr>Business Problem</vt:lpstr>
      <vt:lpstr>Problem Statement</vt:lpstr>
      <vt:lpstr>Introduction</vt:lpstr>
      <vt:lpstr>ER Diagram and Schema Explaination</vt:lpstr>
      <vt:lpstr>SQL Queries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Key Insights</vt:lpstr>
      <vt:lpstr>Recommendations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PUPPALA SANTHOSH KUMAR</cp:lastModifiedBy>
  <cp:revision>10</cp:revision>
  <dcterms:created xsi:type="dcterms:W3CDTF">2026-06-09T10:29:00Z</dcterms:created>
  <dcterms:modified xsi:type="dcterms:W3CDTF">2026-06-13T07:02:52Z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C09BEBDBC0EC493C92EB0CF13BD90C45_13</vt:lpwstr>
  </property>
</Properties>
</file>